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8" r:id="rId9"/>
    <p:sldId id="263" r:id="rId10"/>
    <p:sldId id="265" r:id="rId11"/>
    <p:sldId id="266" r:id="rId12"/>
    <p:sldId id="267" r:id="rId13"/>
    <p:sldId id="274" r:id="rId14"/>
    <p:sldId id="269" r:id="rId15"/>
    <p:sldId id="271" r:id="rId16"/>
    <p:sldId id="270" r:id="rId17"/>
    <p:sldId id="272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5408-50BE-91EF-C298-D02CBADA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F54DD7-45A9-499A-67BD-73A9A9F37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56E77-ECA2-2F4E-116D-E86FE7D98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11F99-D88B-9B3F-76EF-77C8B3A5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A078-E101-D4BE-7C87-D6D6E663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52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066AB-38DD-8B26-8382-E605F9EC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8A9D-DC84-9D28-3919-7D420DE03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91DC1-56F2-56CA-30D7-F171DCEE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85B4B-8525-8BF6-C695-57595F0C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E1649-8ACC-1E79-6C4E-ECA878E8B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8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CD1E9-AF0A-7EF0-8426-F6CFA3E4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5D73C-DF61-79B4-FF90-835EE458C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7C4BF-427D-6DDE-618D-6A1A5D59C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A4597-677E-EB49-9400-F66D0DCDF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51BFF-1CF7-2CF6-1429-5CC6D01E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51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7588-9B2E-0FF3-4B24-BA25129E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1105B-B588-4566-D215-38A93C3908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0AA9-9071-7A8C-26E3-204119889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A7725-BC6B-6AAC-05EB-E826CE29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93E5C-8614-B317-D464-04919FFD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2F2FE-DE85-99C2-97C3-1FC93994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016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48DE-EECA-D335-5EEE-7BFA7FAB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85624-3C36-34FC-66E0-6DED33521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99B9BF-9B2B-77D0-73F7-622FA9067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34D6EC-748E-2B47-3D5B-546CFF51A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78FBD-AF76-3356-2B7B-5CD9CFB34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97768-3602-7B8E-ADDC-F1ED0AF5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F5EF0-FB2C-F3AD-224B-0EF553659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4D167-2888-42BB-A585-7444C7FE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14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827AC-236E-C11B-128C-DB9BD4430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2BC36-DD9B-C671-FD5E-81EAF6A7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FF18BF-1C4A-A7BB-0D58-F0B46A4F1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8D33B-EA5E-42E6-7129-BEA1180D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8F704-3F86-CCAA-23F9-3BF2F9EB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3DBCC-1306-37C2-98CB-F91C76BB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DE840-4960-806C-1118-AF0C35156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7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860D4-4AD5-9975-B4B3-362858C1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550FE-5EAE-846A-B804-D3BCB65D3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B03E4-0E18-6E58-B91D-85D82F380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BB7DF-33CC-83D8-8BE8-32D02DA6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853CE-761C-F69B-6BEC-2EE6E7BC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AB6E9-28DD-2B00-B4AD-8C474BF07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97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D6E00-BDE2-E366-9777-EC288ADEF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7279EE-518C-3A9E-718D-B6FE0990D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0342A-C04A-97EF-30FC-5BB0F84EB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BD72A-FEB9-E308-34B9-0FA67C2B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B4BE0-453D-5747-2002-516C7302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D814F-EC05-FE6D-2179-C676E570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9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02E5-E813-F2E0-FC70-5DED6F11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97226-E7D5-EA29-CF28-26FC8C3D0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315DE-E437-C1B7-CA3E-20314058B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6C97C-BD4A-430C-39B5-1C561572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B2687-CE93-10E8-F742-E1C48E6C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3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657F8C-F457-C6C0-4269-08E1BE2E46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0BF93-26E1-98E8-D189-EA9735515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F115-D09E-68FA-3317-2CA22CCA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EA159-E5F9-0998-9267-7F9825EC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4CF46-3188-8B80-54B4-DE818D22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97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DA4C1-86D7-BAB7-6D6B-F26D4C378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C2278-5C81-9B25-CE4F-21AC00186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6FF6B-9984-823E-7EBC-F92BA1FAB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61C97-0110-4B46-B922-7D4949EA468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51DC9-734D-0AC7-5844-64E936147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9B7F5-86AA-FAD4-2B9C-BD2011D4B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C50D5-C5BE-4C7E-BC26-0EE28108C8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75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6E903-CAF2-02C0-362A-ABB35341B1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Time &amp; Space Complexity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577AA-7F2F-1E2C-B9E9-2045594B77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By: </a:t>
            </a:r>
            <a:r>
              <a:rPr lang="en-IN" dirty="0" err="1"/>
              <a:t>Suryaprabha</a:t>
            </a:r>
            <a:r>
              <a:rPr lang="en-IN" dirty="0"/>
              <a:t> PJ</a:t>
            </a:r>
          </a:p>
        </p:txBody>
      </p:sp>
    </p:spTree>
    <p:extLst>
      <p:ext uri="{BB962C8B-B14F-4D97-AF65-F5344CB8AC3E}">
        <p14:creationId xmlns:p14="http://schemas.microsoft.com/office/powerpoint/2010/main" val="2804749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E98D7-B6CD-46CB-B162-0AFB7C9B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B1131-7215-8C90-90C7-CD8CF7171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measures how fast an algorithm runs and how much memory it uses based on input size.</a:t>
            </a:r>
          </a:p>
          <a:p>
            <a:r>
              <a:rPr lang="en-US" dirty="0"/>
              <a:t>Metrics to evaluate algorithm efficiency</a:t>
            </a:r>
          </a:p>
          <a:p>
            <a:r>
              <a:rPr lang="en-US" dirty="0"/>
              <a:t>Time Complexity → execution time</a:t>
            </a:r>
          </a:p>
          <a:p>
            <a:r>
              <a:rPr lang="en-US" dirty="0"/>
              <a:t>Space Complexity → memory usage</a:t>
            </a:r>
          </a:p>
          <a:p>
            <a:r>
              <a:rPr lang="en-US" dirty="0"/>
              <a:t>Depends on loops, recursion, extra memory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4581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30B3-52EE-F420-2E0F-8BFDE1E2A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3BD3-629F-FBD6-D6F1-E05BF726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cases: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Ω (Omega) – Best Case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Θ (Theta) – Average Case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800" dirty="0"/>
              <a:t>O (Big-O) – Worst Case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66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492D8-C7E3-97DC-5FD4-7727E7ABE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O(1) – Constant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B0588-DAF1-6CF1-D2A4-BDCC40CB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Execution time is constant</a:t>
            </a:r>
          </a:p>
          <a:p>
            <a:r>
              <a:rPr lang="en-US" dirty="0"/>
              <a:t>Independent of input size</a:t>
            </a:r>
          </a:p>
          <a:p>
            <a:r>
              <a:rPr lang="en-IN" dirty="0"/>
              <a:t>Example: HashMap, HashSet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382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B2A4-5E52-0B1F-41FF-DE7E40B4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O(n) – Linear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663B9-DDD6-105F-E283-E5018A64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 increases proportionally with input size.</a:t>
            </a:r>
          </a:p>
          <a:p>
            <a:r>
              <a:rPr lang="en-US" dirty="0"/>
              <a:t>Constants ignored (2n, n/2 → O(n))</a:t>
            </a:r>
          </a:p>
          <a:p>
            <a:r>
              <a:rPr lang="en-US" dirty="0"/>
              <a:t>Example: Linear Search</a:t>
            </a:r>
          </a:p>
          <a:p>
            <a:pPr marL="457200" lvl="1" indent="0">
              <a:buNone/>
            </a:pPr>
            <a:r>
              <a:rPr lang="pt-BR" sz="2800" dirty="0"/>
              <a:t>for(i = 0; i &lt; n; i++){ </a:t>
            </a:r>
          </a:p>
          <a:p>
            <a:pPr marL="457200" lvl="1" indent="0">
              <a:buNone/>
            </a:pPr>
            <a:r>
              <a:rPr lang="pt-BR" sz="2800" dirty="0"/>
              <a:t>      print(i); </a:t>
            </a:r>
          </a:p>
          <a:p>
            <a:pPr marL="457200" lvl="1" indent="0">
              <a:buNone/>
            </a:pPr>
            <a:r>
              <a:rPr lang="pt-BR" sz="2800" dirty="0"/>
              <a:t>}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• Executes n times</a:t>
            </a:r>
          </a:p>
          <a:p>
            <a:pPr marL="0" indent="0">
              <a:buNone/>
            </a:pPr>
            <a:r>
              <a:rPr lang="pt-BR" dirty="0"/>
              <a:t>• Time Complexity: O(n)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951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3DFF-871A-D545-8889-7347424E2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O(n²) – Quadratic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E4DE5-6958-AA5D-0FE4-BA0F16D33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Nested loops</a:t>
            </a:r>
          </a:p>
          <a:p>
            <a:r>
              <a:rPr lang="en-US" dirty="0"/>
              <a:t>Example: Bubble Sort, Insertion Sort</a:t>
            </a:r>
          </a:p>
          <a:p>
            <a:r>
              <a:rPr lang="en-US" dirty="0"/>
              <a:t>n²/2 still considered O(n²)</a:t>
            </a:r>
          </a:p>
          <a:p>
            <a:pPr marL="0" indent="0">
              <a:buNone/>
            </a:pPr>
            <a:r>
              <a:rPr lang="pt-BR" dirty="0"/>
              <a:t>for(i = 0; i &lt; n; i++){</a:t>
            </a:r>
          </a:p>
          <a:p>
            <a:pPr marL="0" indent="0">
              <a:buNone/>
            </a:pPr>
            <a:r>
              <a:rPr lang="pt-BR" dirty="0"/>
              <a:t>  for(j = 0; j &lt; n; j++){</a:t>
            </a:r>
          </a:p>
          <a:p>
            <a:pPr marL="0" indent="0">
              <a:buNone/>
            </a:pPr>
            <a:r>
              <a:rPr lang="pt-BR" dirty="0"/>
              <a:t>	print(i, j);</a:t>
            </a:r>
          </a:p>
          <a:p>
            <a:pPr marL="0" indent="0">
              <a:buNone/>
            </a:pPr>
            <a:r>
              <a:rPr lang="pt-BR" dirty="0"/>
              <a:t>  }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r>
              <a:rPr lang="pt-BR" dirty="0"/>
              <a:t>• Executes n² times</a:t>
            </a:r>
          </a:p>
          <a:p>
            <a:pPr marL="0" indent="0">
              <a:buNone/>
            </a:pPr>
            <a:r>
              <a:rPr lang="pt-BR" dirty="0"/>
              <a:t>• Time Complexity: O(n²)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44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8ACB-35DC-1322-83DB-AC527A0B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O(m × n) – Matrix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7E3C-FB58-E5A3-5ABB-907F46C08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Depends on two dimensions</a:t>
            </a:r>
          </a:p>
          <a:p>
            <a:r>
              <a:rPr lang="en-US" dirty="0"/>
              <a:t>Seen in jagged arrays and matrices</a:t>
            </a:r>
          </a:p>
          <a:p>
            <a:r>
              <a:rPr lang="en-US" dirty="0"/>
              <a:t>If </a:t>
            </a:r>
            <a:r>
              <a:rPr lang="pt-BR" dirty="0"/>
              <a:t>n × m operations</a:t>
            </a:r>
          </a:p>
          <a:p>
            <a:pPr marL="0" indent="0">
              <a:buNone/>
            </a:pPr>
            <a:r>
              <a:rPr lang="en-IN" dirty="0"/>
              <a:t>for 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 </a:t>
            </a:r>
          </a:p>
          <a:p>
            <a:pPr marL="0" indent="0">
              <a:buNone/>
            </a:pPr>
            <a:r>
              <a:rPr lang="en-IN" dirty="0"/>
              <a:t>   for (int j = 0; j &lt; m; </a:t>
            </a:r>
            <a:r>
              <a:rPr lang="en-IN" dirty="0" err="1"/>
              <a:t>j++</a:t>
            </a:r>
            <a:r>
              <a:rPr lang="en-IN" dirty="0"/>
              <a:t>) { </a:t>
            </a:r>
          </a:p>
          <a:p>
            <a:pPr marL="0" indent="0">
              <a:buNone/>
            </a:pPr>
            <a:r>
              <a:rPr lang="en-IN" i="1" dirty="0"/>
              <a:t>	// some operation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}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1686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Higher Order Complexities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O(n³), O(n⁴) → Poor performance</a:t>
            </a:r>
          </a:p>
          <a:p>
            <a:r>
              <a:rPr dirty="0"/>
              <a:t>Indicates suboptimal solutions</a:t>
            </a:r>
          </a:p>
          <a:p>
            <a:r>
              <a:rPr dirty="0"/>
              <a:t>Optimize using hashing, two-pointers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O(log n) – Logarithmic Time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Loop runs log n times</a:t>
            </a:r>
            <a:endParaRPr lang="en-IN" dirty="0"/>
          </a:p>
          <a:p>
            <a:r>
              <a:rPr lang="en-US" dirty="0"/>
              <a:t>Very efficient</a:t>
            </a:r>
          </a:p>
          <a:p>
            <a:r>
              <a:rPr lang="en-US" dirty="0"/>
              <a:t>Reduces input each step</a:t>
            </a:r>
            <a:endParaRPr dirty="0"/>
          </a:p>
          <a:p>
            <a:r>
              <a:rPr dirty="0"/>
              <a:t>Time Complexity: O(log n)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nn-NO" dirty="0"/>
              <a:t>for(i = 1; i &lt;= n; i = i * 2){ </a:t>
            </a:r>
          </a:p>
          <a:p>
            <a:pPr marL="0" indent="0">
              <a:buNone/>
            </a:pPr>
            <a:r>
              <a:rPr lang="nn-NO" dirty="0"/>
              <a:t>         print(i); </a:t>
            </a:r>
          </a:p>
          <a:p>
            <a:pPr marL="0" indent="0">
              <a:buNone/>
            </a:pPr>
            <a:r>
              <a:rPr lang="nn-NO"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O(n log n) – Linearithmic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Better than O(n²)</a:t>
            </a:r>
          </a:p>
          <a:p>
            <a:r>
              <a:rPr dirty="0"/>
              <a:t>Example: Merge Sort, Quick Sort</a:t>
            </a:r>
          </a:p>
          <a:p>
            <a:r>
              <a:rPr dirty="0"/>
              <a:t>n operations × log n levels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&amp; Factorial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O(2ⁿ), O(nⁿ), O(n!)</a:t>
            </a:r>
          </a:p>
          <a:p>
            <a:r>
              <a:rPr dirty="0"/>
              <a:t>Extremely slow</a:t>
            </a:r>
          </a:p>
          <a:p>
            <a:r>
              <a:rPr dirty="0"/>
              <a:t>Seen in recursion, permutations</a:t>
            </a:r>
          </a:p>
          <a:p>
            <a:r>
              <a:rPr dirty="0"/>
              <a:t>Use DP or pruning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O(√n) – Square Root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Between O(log n) and O(n)</a:t>
            </a:r>
          </a:p>
          <a:p>
            <a:r>
              <a:rPr dirty="0"/>
              <a:t>Example: Finding factors of a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Space Complexity?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Amount of memory used by algorithm</a:t>
            </a:r>
          </a:p>
          <a:p>
            <a:r>
              <a:rPr dirty="0"/>
              <a:t>Includes input and auxiliary space</a:t>
            </a:r>
          </a:p>
          <a:p>
            <a:r>
              <a:rPr dirty="0"/>
              <a:t>Measured with respect to n</a:t>
            </a:r>
            <a:endParaRPr lang="en-IN" dirty="0"/>
          </a:p>
          <a:p>
            <a:r>
              <a:rPr lang="en-US" dirty="0"/>
              <a:t>Ignore fixed input size</a:t>
            </a:r>
          </a:p>
          <a:p>
            <a:r>
              <a:rPr lang="en-US" dirty="0"/>
              <a:t>Count extra memory used</a:t>
            </a:r>
          </a:p>
          <a:p>
            <a:r>
              <a:rPr lang="en-US" dirty="0"/>
              <a:t>Arrays, </a:t>
            </a:r>
            <a:r>
              <a:rPr lang="en-US" dirty="0" err="1"/>
              <a:t>HashMaps</a:t>
            </a:r>
            <a:r>
              <a:rPr lang="en-US" dirty="0"/>
              <a:t>, recursion stack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Auxiliary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Extra space used by algorithm</a:t>
            </a:r>
          </a:p>
          <a:p>
            <a:r>
              <a:rPr dirty="0"/>
              <a:t>Temporary arrays, variables, recursion</a:t>
            </a:r>
          </a:p>
          <a:p>
            <a:r>
              <a:rPr dirty="0"/>
              <a:t>Input space is ignored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 Space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 a, b, c;</a:t>
            </a:r>
          </a:p>
          <a:p>
            <a:endParaRPr dirty="0"/>
          </a:p>
          <a:p>
            <a:r>
              <a:rPr dirty="0"/>
              <a:t>Fixed number of variables</a:t>
            </a:r>
          </a:p>
          <a:p>
            <a:r>
              <a:rPr dirty="0"/>
              <a:t>Space Complexity: O(1)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 Complexity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 </a:t>
            </a:r>
            <a:r>
              <a:rPr dirty="0" err="1"/>
              <a:t>arr</a:t>
            </a:r>
            <a:r>
              <a:rPr dirty="0"/>
              <a:t>[n];</a:t>
            </a:r>
          </a:p>
          <a:p>
            <a:endParaRPr dirty="0"/>
          </a:p>
          <a:p>
            <a:r>
              <a:rPr dirty="0"/>
              <a:t>Uses extra array of size n</a:t>
            </a:r>
          </a:p>
          <a:p>
            <a:r>
              <a:rPr dirty="0"/>
              <a:t>Space Complexity: O(n)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vs Space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Faster algorithms may use more memory</a:t>
            </a:r>
          </a:p>
          <a:p>
            <a:r>
              <a:rPr dirty="0"/>
              <a:t>Memory-efficient algorithms may be slower</a:t>
            </a:r>
          </a:p>
          <a:p>
            <a:r>
              <a:rPr dirty="0"/>
              <a:t>Interviews prioritize time complexity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E9548-9250-8E8B-B8B0-9648EC44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9386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560</Words>
  <Application>Microsoft Office PowerPoint</Application>
  <PresentationFormat>Widescreen</PresentationFormat>
  <Paragraphs>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Arial Black</vt:lpstr>
      <vt:lpstr>Office Theme</vt:lpstr>
      <vt:lpstr>Time &amp; Space Complexity</vt:lpstr>
      <vt:lpstr>What is Time Complexity</vt:lpstr>
      <vt:lpstr>Types of Notation</vt:lpstr>
      <vt:lpstr>O(1) – Constant Time</vt:lpstr>
      <vt:lpstr>O(n) – Linear Time</vt:lpstr>
      <vt:lpstr>O(n²) – Quadratic Time</vt:lpstr>
      <vt:lpstr>O(m × n) – Matrix Operations</vt:lpstr>
      <vt:lpstr>Higher Order Complexities</vt:lpstr>
      <vt:lpstr>O(log n) – Logarithmic Time</vt:lpstr>
      <vt:lpstr>O(n log n) – Linearithmic</vt:lpstr>
      <vt:lpstr>Exponential &amp; Factorial</vt:lpstr>
      <vt:lpstr>O(√n) – Square Root Time</vt:lpstr>
      <vt:lpstr>What is Space Complexity?</vt:lpstr>
      <vt:lpstr>Auxiliary Space</vt:lpstr>
      <vt:lpstr>Constant Space Example</vt:lpstr>
      <vt:lpstr>Space Complexity Example</vt:lpstr>
      <vt:lpstr>Time vs Space Trade-off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SURYAPRABHA P J</dc:creator>
  <cp:lastModifiedBy>SURYAPRABHA P J</cp:lastModifiedBy>
  <cp:revision>1</cp:revision>
  <dcterms:created xsi:type="dcterms:W3CDTF">2026-01-09T12:23:45Z</dcterms:created>
  <dcterms:modified xsi:type="dcterms:W3CDTF">2026-01-09T14:56:14Z</dcterms:modified>
</cp:coreProperties>
</file>